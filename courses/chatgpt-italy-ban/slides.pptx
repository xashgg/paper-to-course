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64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Impact of Generative AI on Information Processing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the ban of ChatGPT in Italy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Accounting and Economics 80 (2025), 101782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1/13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Discussion Roadmap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Italy ban as shock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Analyst-level evidence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Market-level evidence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and caveats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the Paper Matters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68680"/>
            <a:ext cx="2438400" cy="365760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68680"/>
            <a:ext cx="2438400" cy="54864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051560"/>
            <a:ext cx="216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as processing capital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2164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may reduce the cost of reading, summarizing, translating, and organizing information.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24200" y="868680"/>
            <a:ext cx="2438400" cy="365760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24200" y="868680"/>
            <a:ext cx="2438400" cy="54864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12" name="Text 10"/>
          <p:cNvSpPr/>
          <p:nvPr/>
        </p:nvSpPr>
        <p:spPr>
          <a:xfrm>
            <a:off x="3261360" y="1051560"/>
            <a:ext cx="216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Analysts are measurable intermediaries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61360" y="1600200"/>
            <a:ext cx="2164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forecast frequency, and forecast accuracy reveal how information production changes.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91200" y="868680"/>
            <a:ext cx="2438400" cy="365760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91200" y="868680"/>
            <a:ext cx="2438400" cy="54864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16" name="Text 14"/>
          <p:cNvSpPr/>
          <p:nvPr/>
        </p:nvSpPr>
        <p:spPr>
          <a:xfrm>
            <a:off x="5928360" y="1051560"/>
            <a:ext cx="216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Markets reveal spillovers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28360" y="1600200"/>
            <a:ext cx="2164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reactions and bid-ask spreads test whether reduced processing affects price discovery.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Institutional Timeline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68680"/>
            <a:ext cx="822960" cy="45720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686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71600" y="868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91640" y="868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released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0" y="868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diffuses rapidly into information work.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581912"/>
            <a:ext cx="822960" cy="45720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5819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Jan-Mar 2023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71600" y="158191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91640" y="15819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Pre-ban baseline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0" y="15819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reports and forecasts establish comparison behavior.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130552"/>
            <a:ext cx="822960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295144"/>
            <a:ext cx="822960" cy="457200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2951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31-Apr 28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71600" y="229514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91640" y="22951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Italy ban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40480" y="229514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 IP addresses are blocked from ChatGPT.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843784"/>
            <a:ext cx="822960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008376"/>
            <a:ext cx="822960" cy="457200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00837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May-Jun 2023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371600" y="300837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691640" y="300837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40480" y="300837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tests examine reversal after access returns.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Empirical Design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Italy-based analysts during ban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shock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analysts covering same firms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firm fundamentals closer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fixed effects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Firm-month and analyst-firm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Absorb fundamentals and stable coverage traits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 proxies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major; ex-ante AI text probability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likely ChatGPT users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Data Scale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1783080" cy="2011680"/>
          </a:xfrm>
          <a:prstGeom prst="rect">
            <a:avLst/>
          </a:prstGeom>
          <a:solidFill>
            <a:srgbClr val="FDEEE9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05840"/>
            <a:ext cx="1783080" cy="54864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4F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2,090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reports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005840"/>
            <a:ext cx="1783080" cy="2011680"/>
          </a:xfrm>
          <a:prstGeom prst="rect">
            <a:avLst/>
          </a:prstGeom>
          <a:solidFill>
            <a:srgbClr val="FDEEE9"/>
          </a:solidFill>
          <a:ln/>
        </p:spPr>
      </p:sp>
      <p:sp>
        <p:nvSpPr>
          <p:cNvPr id="11" name="Shape 9"/>
          <p:cNvSpPr/>
          <p:nvPr/>
        </p:nvSpPr>
        <p:spPr>
          <a:xfrm>
            <a:off x="2606040" y="1005840"/>
            <a:ext cx="1783080" cy="54864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188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4F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1,208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697480" y="21488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analyst-month observations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1783080" cy="2011680"/>
          </a:xfrm>
          <a:prstGeom prst="rect">
            <a:avLst/>
          </a:prstGeom>
          <a:solidFill>
            <a:srgbClr val="FDEEE9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1005840"/>
            <a:ext cx="1783080" cy="54864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188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4F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2,084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846320" y="21488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analyst-firm-month forecasts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03720" y="1005840"/>
            <a:ext cx="1783080" cy="2011680"/>
          </a:xfrm>
          <a:prstGeom prst="rect">
            <a:avLst/>
          </a:prstGeom>
          <a:solidFill>
            <a:srgbClr val="FDEEE9"/>
          </a:solidFill>
          <a:ln/>
        </p:spPr>
      </p:sp>
      <p:sp>
        <p:nvSpPr>
          <p:cNvPr id="19" name="Shape 17"/>
          <p:cNvSpPr/>
          <p:nvPr/>
        </p:nvSpPr>
        <p:spPr>
          <a:xfrm>
            <a:off x="6903720" y="1005840"/>
            <a:ext cx="1783080" cy="54864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1188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4F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456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995160" y="21488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firm sample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AI-Use Footprint Falls During the Ban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0" y="941832"/>
            <a:ext cx="2347722" cy="53949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Text 6"/>
          <p:cNvSpPr/>
          <p:nvPr/>
        </p:nvSpPr>
        <p:spPr>
          <a:xfrm>
            <a:off x="4249674" y="8686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39.5%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16602" y="8686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+39.5%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Burstiness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0" y="1810512"/>
            <a:ext cx="3661258" cy="53949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2" name="Text 10"/>
          <p:cNvSpPr/>
          <p:nvPr/>
        </p:nvSpPr>
        <p:spPr>
          <a:xfrm>
            <a:off x="5563210" y="17373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61.6%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30138" y="17373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+61.6%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6060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28800" y="2679192"/>
            <a:ext cx="4130802" cy="53949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6" name="Text 14"/>
          <p:cNvSpPr/>
          <p:nvPr/>
        </p:nvSpPr>
        <p:spPr>
          <a:xfrm>
            <a:off x="6032754" y="26060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69.5%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99682" y="26060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+69.5%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Analyst Output Effects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 frequency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-0.111 to -0.125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21% of sample SD fewer forecasts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substitution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analysts do not take up the slack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+0.946 AFE (*100)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 errors increase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information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reliance on industry or macro content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Difference-in-Differences Logic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686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 = beta1 * Italy Analyst x Ban + controls + fixed effects + error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64592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BA6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2011680"/>
            <a:ext cx="658368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such as text score, forecast count, accuracy, or bid-ask spread.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480310"/>
            <a:ext cx="164592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BA6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Italy Analyst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2480310"/>
            <a:ext cx="658368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 analysts located in Italy.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948940"/>
            <a:ext cx="164592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BA6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2948940"/>
            <a:ext cx="658368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during the ChatGPT ban period.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417570"/>
            <a:ext cx="164592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BA6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beta1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3417570"/>
            <a:ext cx="658368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effect of reduced ChatGPT access.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Proposed Mechanism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1828800" cy="329184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1143000"/>
            <a:ext cx="457200" cy="457200"/>
          </a:xfrm>
          <a:prstGeom prst="ellipse">
            <a:avLst/>
          </a:prstGeom>
          <a:solidFill>
            <a:srgbClr val="D94F30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removed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Italy ban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51460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analysts lose easy ChatGPT access.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04288" y="2377440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1D5DB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587752" y="1005840"/>
            <a:ext cx="1828800" cy="329184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73552" y="1143000"/>
            <a:ext cx="457200" cy="457200"/>
          </a:xfrm>
          <a:prstGeom prst="ellipse">
            <a:avLst/>
          </a:prstGeom>
          <a:solidFill>
            <a:srgbClr val="D94F30"/>
          </a:solidFill>
          <a:ln/>
        </p:spPr>
      </p:sp>
      <p:sp>
        <p:nvSpPr>
          <p:cNvPr id="15" name="Text 13"/>
          <p:cNvSpPr/>
          <p:nvPr/>
        </p:nvSpPr>
        <p:spPr>
          <a:xfrm>
            <a:off x="3273552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79192" y="1691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costs rise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79192" y="2148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constraint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79192" y="251460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 and organization become harder.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34840" y="2377440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1D5DB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718304" y="1005840"/>
            <a:ext cx="1828800" cy="329184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04104" y="1143000"/>
            <a:ext cx="457200" cy="457200"/>
          </a:xfrm>
          <a:prstGeom prst="ellipse">
            <a:avLst/>
          </a:prstGeom>
          <a:solidFill>
            <a:srgbClr val="D94F30"/>
          </a:solidFill>
          <a:ln/>
        </p:spPr>
      </p:sp>
      <p:sp>
        <p:nvSpPr>
          <p:cNvPr id="22" name="Text 20"/>
          <p:cNvSpPr/>
          <p:nvPr/>
        </p:nvSpPr>
        <p:spPr>
          <a:xfrm>
            <a:off x="5404104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9744" y="1691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Forecasts decline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9744" y="2148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intermediation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09744" y="251460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and accuracy fall.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65392" y="2377440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1D5DB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848856" y="1005840"/>
            <a:ext cx="1828800" cy="329184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534656" y="1143000"/>
            <a:ext cx="457200" cy="457200"/>
          </a:xfrm>
          <a:prstGeom prst="ellipse">
            <a:avLst/>
          </a:prstGeom>
          <a:solidFill>
            <a:srgbClr val="D94F30"/>
          </a:solidFill>
          <a:ln/>
        </p:spPr>
      </p:sp>
      <p:sp>
        <p:nvSpPr>
          <p:cNvPr id="29" name="Text 27"/>
          <p:cNvSpPr/>
          <p:nvPr/>
        </p:nvSpPr>
        <p:spPr>
          <a:xfrm>
            <a:off x="7534656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40296" y="1691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Markets react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40296" y="2148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pre-event information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40296" y="251460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reactions and spreads increase.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Market-Level Findings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Earnings reaction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Italy x Ban x UE = 0.829*** for day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Earnings announcements contain more news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bid-ask spread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Italy x Ban = 0.028***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Liquidity worsens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Adjusted bid-ask spread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Italy x Ban = 0.031***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persists after volume adjustment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 sections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Smaller effects with high analyst, foreign, or institutional ownership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 information channels cushion the shock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Caveats and Boundary Conditions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当前局限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69080" cy="320040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88720"/>
            <a:ext cx="54864" cy="3200400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80160"/>
            <a:ext cx="3794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workarounds mean treatment is incomplete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Text-detection measures are noisy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 lasted less than one month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AI tools could attenuate effects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17720" y="8229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未来方向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188720"/>
            <a:ext cx="4069080" cy="320040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2" name="Shape 10"/>
          <p:cNvSpPr/>
          <p:nvPr/>
        </p:nvSpPr>
        <p:spPr>
          <a:xfrm>
            <a:off x="4617720" y="1188720"/>
            <a:ext cx="54864" cy="3200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280160"/>
            <a:ext cx="3794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longer AI access shocks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task-level AI use directly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across analyst industries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retail investor information processing more directly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Bottom Line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868680"/>
            <a:ext cx="54864" cy="822960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8686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appears to matter for professional information processing.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828800"/>
            <a:ext cx="54864" cy="822960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28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analyst evidence links AI access to information quantity and quality.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8229600" cy="8229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788920"/>
            <a:ext cx="54864" cy="822960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889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evidence suggests reduced processing can weaken informational efficiency.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Impact of Generative AI on Information Processing</dc:title>
  <dc:subject>PptxGenJS Presentation</dc:subject>
  <dc:creator>paper-to-course</dc:creator>
  <cp:lastModifiedBy>paper-to-course</cp:lastModifiedBy>
  <cp:revision>1</cp:revision>
  <dcterms:created xsi:type="dcterms:W3CDTF">2026-05-20T03:20:15Z</dcterms:created>
  <dcterms:modified xsi:type="dcterms:W3CDTF">2026-05-20T03:20:15Z</dcterms:modified>
</cp:coreProperties>
</file>