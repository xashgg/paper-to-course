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DeepSeek-R1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纯强化学习驱动的推理能力涌现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Reinforcement Learning Elicits Reasoning in LLMs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Nature, 2025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1/16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汇报提纲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研究背景与动机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发展脉络与主流方法对比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核心方法：GRPO 算法详解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实验结果与消融分析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局限性与未来方向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研究背景：大模型的推理困境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2438400" cy="36576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68680"/>
            <a:ext cx="2438400" cy="4572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3327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数学推理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508760"/>
            <a:ext cx="2164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多步代数推导、几何证明、奥数竞赛题——LLM 常给出"看起来对但错了"的答案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24200" y="868680"/>
            <a:ext cx="2438400" cy="36576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24200" y="868680"/>
            <a:ext cx="24384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261360" y="103327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代码生成与调试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1360" y="1508760"/>
            <a:ext cx="2164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复杂算法、多文件协调、边界条件处理——需要系统化思考而非模式匹配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91200" y="868680"/>
            <a:ext cx="2438400" cy="36576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91200" y="868680"/>
            <a:ext cx="24384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928360" y="103327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科学分析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28360" y="1508760"/>
            <a:ext cx="2164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假设检验、实验设计、数据解读——需要领域知识与逻辑链条的深度结合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现有方法的三大瓶颈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需要大量标注数据 — 传统 RLHF 依赖海量高质量"人类反馈数据"，成本极高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必须先做 SFT（监督微调） — GPT-4o、Claude 等都需要先经过 SFT 才能做 RL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推理链质量不可控 — CoT prompting 可以引导思考，但模型无法验证推理步骤正确性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核心研究问题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182880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8872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"大语言模型能否通过</a:t>
            </a:r>
            <a:pPr algn="l" indent="0" marL="0">
              <a:buNone/>
            </a:pPr>
            <a:r>
              <a:rPr lang="en-US" sz="1800" b="1" dirty="0">
                <a:solidFill>
                  <a:srgbClr val="D94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纯强化学习</a:t>
            </a:r>
            <a:pPr algn="l"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，不依赖任何监督微调，自主涌现出</a:t>
            </a:r>
            <a:pPr algn="l" indent="0" marL="0">
              <a:buNone/>
            </a:pPr>
            <a:r>
              <a:rPr lang="en-US" sz="1800" b="1" dirty="0">
                <a:solidFill>
                  <a:srgbClr val="D94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推理能力</a:t>
            </a:r>
            <a:pPr algn="l"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？"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94F30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6454F"/>
                </a:solidFill>
              </a:rPr>
              <a:t>纯 RL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6454F"/>
                </a:solidFill>
              </a:rPr>
              <a:t> — 完全摒弃 SFT，从零开始训练（类比：AlphaGo 不学人类棋谱，自我对弈超越人类）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94F30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6454F"/>
                </a:solidFill>
              </a:rPr>
              <a:t>推理涌现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6454F"/>
                </a:solidFill>
              </a:rPr>
              <a:t> — 不是教模型"怎么推理"，而是创造条件让推理能力自己涌现出来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发展脉络：从"教"到"涌现"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777240" cy="4572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686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80160" y="868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868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 Prompting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8686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 et al. — 引导思考，但无法真正教会推理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600200"/>
            <a:ext cx="777240" cy="4572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6002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80160" y="1600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 / InstructGPT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16002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— 依赖大量人工标注数据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148840"/>
            <a:ext cx="822960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331720"/>
            <a:ext cx="777240" cy="4572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3317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2024.09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8016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5448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o1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23317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Thinking — 黑箱，AIME 74.6%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822960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63240"/>
            <a:ext cx="777240" cy="45720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0632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80160" y="3063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DeepSeek-R1-Zero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30632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 RL，涌现反思能力！无标注数据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611880"/>
            <a:ext cx="822960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794760"/>
            <a:ext cx="777240" cy="45720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7947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280160" y="3794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55448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DeepSeek-R1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83280" y="37947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冷启动 + RL + SFT，追平 o1，全开源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性能对比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005840"/>
                <a:gridCol w="1005840"/>
                <a:gridCol w="100584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AIME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MATH-500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LiveCodeBench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 (2024)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SFT + RLHF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3.5 Sonnet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SFT + RLHF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o1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Thinking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DeepSeek-R1-Zero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DeepSeek-R1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Start + RL + SFT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核心算法：GRPO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457200" cy="457200"/>
          </a:xfrm>
          <a:prstGeom prst="ellipse">
            <a:avLst/>
          </a:prstGeom>
          <a:solidFill>
            <a:srgbClr val="D94F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960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模型对每个问题生成 G=8 个不同答案 [S₁, S₂, ..., S₈]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D94F3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874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奖励模型打分：[r₁=0, r₂=1, r₃=0, ..., r₈=0] — 两个正确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D94F3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788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在组内标准化 Advantage（Aᵢ = rᵢ − mean(r)/std(r)），无需 Critic 网络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D94F3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703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 π_θ，下次生成更多正确答案（PPO-style clip 防止更新过激）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4206240"/>
            <a:ext cx="54864" cy="68580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062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4F30"/>
                </a:solidFill>
              </a:rPr>
              <a:t>核心创新：</a:t>
            </a:r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</a:rPr>
              <a:t>用组内均值/标准差替代 Critic 网络估计 Advantage，大幅降低训练开销！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四阶段训练管道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1828800" cy="237744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1005840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冷启动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用长 CoT 数据微调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 R1-Zero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可读性问题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04288" y="1874520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1D5DB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587752" y="868680"/>
            <a:ext cx="1828800" cy="237744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73552" y="1005840"/>
            <a:ext cx="457200" cy="457200"/>
          </a:xfrm>
          <a:prstGeom prst="ellipse">
            <a:avLst/>
          </a:prstGeom>
          <a:solidFill>
            <a:srgbClr val="D94F30"/>
          </a:solidFill>
          <a:ln/>
        </p:spPr>
      </p:sp>
      <p:sp>
        <p:nvSpPr>
          <p:cNvPr id="15" name="Text 13"/>
          <p:cNvSpPr/>
          <p:nvPr/>
        </p:nvSpPr>
        <p:spPr>
          <a:xfrm>
            <a:off x="3273552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79192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RL（推理）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79192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+ 奖励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79192" y="2286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+ 准确性奖励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格式奖励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聚焦推理任务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34840" y="1874520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1D5DB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18304" y="868680"/>
            <a:ext cx="1828800" cy="237744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04104" y="1005840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2" name="Text 20"/>
          <p:cNvSpPr/>
          <p:nvPr/>
        </p:nvSpPr>
        <p:spPr>
          <a:xfrm>
            <a:off x="5404104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9744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SFT（全场景）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9744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通用能力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9744" y="2286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阶段2数据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DeepSeek-V3数据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写作/对话/摘要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65392" y="1874520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1D5DB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848856" y="868680"/>
            <a:ext cx="1828800" cy="237744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534656" y="1005840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9" name="Text 27"/>
          <p:cNvSpPr/>
          <p:nvPr/>
        </p:nvSpPr>
        <p:spPr>
          <a:xfrm>
            <a:off x="7534656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0296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RL（全能力）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40296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有用+无害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40296" y="2286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有用性奖励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无害性奖励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全能力 RL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奖励信号设计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2438400" cy="36576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68680"/>
            <a:ext cx="24384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3327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准确性奖励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508760"/>
            <a:ext cx="21640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二元判断：答案对/错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最简单也最有效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模型学会在错误后反思并纠正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24200" y="868680"/>
            <a:ext cx="2438400" cy="36576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24200" y="868680"/>
            <a:ext cx="24384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261360" y="103327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过程奖励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1360" y="1508760"/>
            <a:ext cx="21640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给推理每一步打分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而非只看最终答案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帮助理解"哪一步走错"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91200" y="868680"/>
            <a:ext cx="2438400" cy="365760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91200" y="868680"/>
            <a:ext cx="2438400" cy="4572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16" name="Text 14"/>
          <p:cNvSpPr/>
          <p:nvPr/>
        </p:nvSpPr>
        <p:spPr>
          <a:xfrm>
            <a:off x="5928360" y="1033272"/>
            <a:ext cx="216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格式奖励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28360" y="1508760"/>
            <a:ext cx="21640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强制 &amp;lt;think&amp;gt;...&amp;lt;/think&amp;gt; 标签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确保输出可解析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鼓励更完整的思考链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核心实验结果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2499360" cy="20116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2499360" cy="4572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249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231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 2024 (数学竞赛)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超越 OpenAI o1 (74.6%)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22320" y="1005840"/>
            <a:ext cx="2499360" cy="2011680"/>
          </a:xfrm>
          <a:prstGeom prst="rect">
            <a:avLst/>
          </a:prstGeom>
          <a:solidFill>
            <a:srgbClr val="A7F3D0"/>
          </a:solidFill>
          <a:ln/>
        </p:spPr>
      </p:sp>
      <p:sp>
        <p:nvSpPr>
          <p:cNvPr id="11" name="Shape 9"/>
          <p:cNvSpPr/>
          <p:nvPr/>
        </p:nvSpPr>
        <p:spPr>
          <a:xfrm>
            <a:off x="3322320" y="1005840"/>
            <a:ext cx="2499360" cy="4572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2" name="Text 10"/>
          <p:cNvSpPr/>
          <p:nvPr/>
        </p:nvSpPr>
        <p:spPr>
          <a:xfrm>
            <a:off x="3322320" y="1188720"/>
            <a:ext cx="249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96.2%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13760" y="2148840"/>
            <a:ext cx="231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MATH-500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顶尖数学基准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7440" y="1005840"/>
            <a:ext cx="2499360" cy="2011680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15" name="Shape 13"/>
          <p:cNvSpPr/>
          <p:nvPr/>
        </p:nvSpPr>
        <p:spPr>
          <a:xfrm>
            <a:off x="6187440" y="1005840"/>
            <a:ext cx="2499360" cy="457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6187440" y="1188720"/>
            <a:ext cx="249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62.2%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78880" y="2148840"/>
            <a:ext cx="231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LiveCodeBench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代码生成基准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超越 o1 (52.3%)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消融实验：哪些组件真正重要？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完整模型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37360" y="987552"/>
            <a:ext cx="5717743" cy="539496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8" name="Text 6"/>
          <p:cNvSpPr/>
          <p:nvPr/>
        </p:nvSpPr>
        <p:spPr>
          <a:xfrm>
            <a:off x="7528255" y="9144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96.2%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w/o GRPO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37360" y="1856232"/>
            <a:ext cx="4790542" cy="53949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1" name="Text 9"/>
          <p:cNvSpPr/>
          <p:nvPr/>
        </p:nvSpPr>
        <p:spPr>
          <a:xfrm>
            <a:off x="6601054" y="17830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80.6%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22262" y="178308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-15.6%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w/o Reward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37360" y="2724912"/>
            <a:ext cx="3613709" cy="53949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Text 13"/>
          <p:cNvSpPr/>
          <p:nvPr/>
        </p:nvSpPr>
        <p:spPr>
          <a:xfrm>
            <a:off x="5424221" y="26517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60.8%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5429" y="265176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-35.4%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 SFT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737360" y="3593592"/>
            <a:ext cx="4445813" cy="53949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6256325" y="352044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74.8%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77533" y="352044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-21.4%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4251960"/>
            <a:ext cx="54864" cy="68580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519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4F30"/>
                </a:solidFill>
              </a:rPr>
              <a:t>关键发现：</a:t>
            </a:r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</a:rPr>
              <a:t>奖励信号是最关键因素（-35.4%）。纯 SFT 远不如 RL（-21.4%）。GRPO 本身贡献 +15.6%。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涌现的高级推理行为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3977640" cy="169164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68680"/>
            <a:ext cx="39776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3327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反思（Reflection）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模型主动回退并重新思考，"等等，让我重新考虑……"——从未被显式教过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3977640" cy="169164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68680"/>
            <a:ext cx="3977640" cy="54864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03327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 长思维链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4630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自发生成更长的思考过程。与 o1 异曲同工，但这里是纯 RL 涌现而非人工设计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3977640" cy="169164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788920"/>
            <a:ext cx="39776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5351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问题分解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3832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面对复杂问题，将问题拆解为子问题逐个攻克——高级元认知能力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2788920"/>
            <a:ext cx="3977640" cy="1691640"/>
          </a:xfrm>
          <a:prstGeom prst="rect">
            <a:avLst/>
          </a:prstGeom>
          <a:solidFill>
            <a:srgbClr val="F0F0F0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788920"/>
            <a:ext cx="39776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95351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验证（Verification）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33832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在给出最终答案前，主动验证中间步骤的正确性，大大减少粗心错误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蒸馏效果：小模型也能推理！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AIME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MATH-500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参数量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Qwen2.5-7B (基座)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DeepSeek-R1-Distill-Qwen-7B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↑22×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Qwen2.5-32B (基座)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DeepSeek-R1-Distill-Qwen-32B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↑7×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局限性与未来方向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当前局限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69080" cy="27432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88720"/>
            <a:ext cx="54864" cy="274320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80160"/>
            <a:ext cx="3794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语言一致性：推理过程常出现中英文混合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函数调用/格式输出：不如专门的微调模型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训练成本：671B 参数训练门槛极高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冷启动数据：依赖人工后处理，难以自动化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17720" y="8229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未来方向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188720"/>
            <a:ext cx="4069080" cy="27432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1188720"/>
            <a:ext cx="54864" cy="2743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280160"/>
            <a:ext cx="3794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多模态推理：扩展到图像、视频、音频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更精细的奖励信号：过程奖励（每步打分）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多智能体 RL 推理：假设+验证+整合协作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推理效率优化：降低长思维链的推理成本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总结与启示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503920" y="137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4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868680"/>
            <a:ext cx="54864" cy="82296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686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首次证明纯 RL 可让大模型涌现推理能力，无需任何监督数据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828800"/>
            <a:ext cx="54864" cy="8229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28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GRPO 算法 + 四阶段训练管道 + 冷启动策略（技术创新）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8229600" cy="82296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788920"/>
            <a:ext cx="54864" cy="8229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88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全系列开源（7B~671B），benchmark 上追平甚至超越 OpenAI o1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749040"/>
            <a:ext cx="54864" cy="822960"/>
          </a:xfrm>
          <a:prstGeom prst="rect">
            <a:avLst/>
          </a:prstGeom>
          <a:solidFill>
            <a:srgbClr val="D94F3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核心启示：正确的奖励信号比标注数据更重要——模型会自己找到"如何推理"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DeepSeek-R1: 纯强化学习驱动的推理能力涌现</dc:title>
  <dc:subject>DeepSeek-R1 Paper Summary</dc:subject>
  <dc:creator>Paper-to-Course</dc:creator>
  <cp:lastModifiedBy>Paper-to-Course</cp:lastModifiedBy>
  <cp:revision>1</cp:revision>
  <dcterms:created xsi:type="dcterms:W3CDTF">2026-04-05T04:04:32Z</dcterms:created>
  <dcterms:modified xsi:type="dcterms:W3CDTF">2026-04-05T04:04:32Z</dcterms:modified>
</cp:coreProperties>
</file>